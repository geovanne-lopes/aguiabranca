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\.rels>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/>
</Relationships>
</file>

<file path=ppt\_rels\presentation.xml.rels><?xml version="1.0" encoding="UTF-8" standalone="yes"?>
<Relationships xmlns="http://schemas.openxmlformats.org/package/2006/relationships">
  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
</Relationships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 type="screen16x9"/>
  <p:notesSz cx="6858000" cy="9144000"/>
</p:presentation>
</file>

<file path=ppt\slides\_rels\slide1.xml.rels><?xml version="1.0" encoding="UTF-8" standalone="yes"?>
<Relationships xmlns="http://schemas.openxmlformats.org/package/2006/relationships"/>
</file>

<file path=ppt\slides\_rels\slide2.xml.rels><?xml version="1.0" encoding="UTF-8" standalone="yes"?>
<Relationships xmlns="http://schemas.openxmlformats.org/package/2006/relationships"/>
</file>

<file path=ppt\slides\_rels\slide3.xml.rels><?xml version="1.0" encoding="UTF-8" standalone="yes"?>
<Relationships xmlns="http://schemas.openxmlformats.org/package/2006/relationships"/>
</file>

<file path=ppt\slides\_rels\slide4.xml.rels><?xml version="1.0" encoding="UTF-8" standalone="yes"?>
<Relationships xmlns="http://schemas.openxmlformats.org/package/2006/relationships"/>
</file>

<file path=ppt\slides\_rels\slide5.xml.rels><?xml version="1.0" encoding="UTF-8" standalone="yes"?>
<Relationships xmlns="http://schemas.openxmlformats.org/package/2006/relationships"/>
</file>

<file path=ppt\slides\_rels\slide6.xml.rels><?xml version="1.0" encoding="UTF-8" standalone="yes"?>
<Relationships xmlns="http://schemas.openxmlformats.org/package/2006/relationships"/>
</file>

<file path=ppt\slides\_rels\slide7.xml.rels><?xml version="1.0" encoding="UTF-8" standalone="yes"?>
<Relationships xmlns="http://schemas.openxmlformats.org/package/2006/relationships"/>
</file>

<file path=ppt\slides\_rels\slide8.xml.rels><?xml version="1.0" encoding="UTF-8" standalone="yes"?>
<Relationships xmlns="http://schemas.openxmlformats.org/package/2006/relationships"/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457200"/>
            <a:ext cx="10820400" cy="1143000"/>
          </a:xfrm>
        </p:spPr>
        <p:txBody>
          <a:bodyPr/>
          <a:lstStyle/>
          <a:p>
            <a:r>
              <a:rPr lang="pt-BR" sz="4000" b="1">
                <a:solidFill>
                  <a:srgbClr val="FFFFFF"/>
                </a:solidFill>
              </a:rPr>
              <a:t>Challenge Ãguia Branca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914400" y="1905000"/>
            <a:ext cx="10363200" cy="4114800"/>
          </a:xfrm>
        </p:spPr>
        <p:txBody>
          <a:bodyPr/>
          <a:lstStyle/>
          <a:p>
            <a:r>
              <a:rPr lang="pt-BR" sz="2200"/>
              <a:t>GestÃ£o de InovaÃ§Ã£o Corporativa</a:t>
            </a:r>
          </a:p>
          <a:p>
            <a:r>
              <a:rPr lang="pt-BR" sz="2200"/>
              <a:t>Aplicativo Android nativo com preview web para demonstraÃ§Ã£o</a:t>
            </a:r>
          </a:p>
          <a:p>
            <a:r>
              <a:rPr lang="pt-BR" sz="2200"/>
              <a:t>Perfis: Operador, Gestor e LÃ­der</a:t>
            </a:r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457200"/>
            <a:ext cx="10820400" cy="1143000"/>
          </a:xfrm>
        </p:spPr>
        <p:txBody>
          <a:bodyPr/>
          <a:lstStyle/>
          <a:p>
            <a:r>
              <a:rPr lang="pt-BR" sz="4000" b="1">
                <a:solidFill>
                  <a:srgbClr val="FFFFFF"/>
                </a:solidFill>
              </a:rPr>
              <a:t>Tecnologias Utilizadas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914400" y="1905000"/>
            <a:ext cx="10363200" cy="4114800"/>
          </a:xfrm>
        </p:spPr>
        <p:txBody>
          <a:bodyPr/>
          <a:lstStyle/>
          <a:p>
            <a:r>
              <a:rPr lang="pt-BR" sz="2200"/>
              <a:t>Android: Kotlin, Jetpack Compose, Material 3 e Navigation Compose</a:t>
            </a:r>
          </a:p>
          <a:p>
            <a:r>
              <a:rPr lang="pt-BR" sz="2200"/>
              <a:t>Arquitetura: MVVM + Clean Architecture</a:t>
            </a:r>
          </a:p>
          <a:p>
            <a:r>
              <a:rPr lang="pt-BR" sz="2200"/>
              <a:t>InjeÃ§Ã£o de dependÃªncia: Koin</a:t>
            </a:r>
          </a:p>
          <a:p>
            <a:r>
              <a:rPr lang="pt-BR" sz="2200"/>
              <a:t>PersistÃªncia local: Room e DataStore</a:t>
            </a:r>
          </a:p>
          <a:p>
            <a:r>
              <a:rPr lang="pt-BR" sz="2200"/>
              <a:t>Rede: Retrofit, OkHttp e Kotlinx Serialization</a:t>
            </a:r>
          </a:p>
          <a:p>
            <a:r>
              <a:rPr lang="pt-BR" sz="2200"/>
              <a:t>Web preview: Vite, JavaScript, HTML e CSS</a:t>
            </a:r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457200"/>
            <a:ext cx="10820400" cy="1143000"/>
          </a:xfrm>
        </p:spPr>
        <p:txBody>
          <a:bodyPr/>
          <a:lstStyle/>
          <a:p>
            <a:r>
              <a:rPr lang="pt-BR" sz="4000" b="1">
                <a:solidFill>
                  <a:srgbClr val="FFFFFF"/>
                </a:solidFill>
              </a:rPr>
              <a:t>Arquitetura da SoluÃ§Ã£o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914400" y="1905000"/>
            <a:ext cx="10363200" cy="4114800"/>
          </a:xfrm>
        </p:spPr>
        <p:txBody>
          <a:bodyPr/>
          <a:lstStyle/>
          <a:p>
            <a:r>
              <a:rPr lang="pt-BR" sz="2200"/>
              <a:t>Camada Data: APIs remotas, banco local Room, DAOs, DTOs e repositÃ³rios</a:t>
            </a:r>
          </a:p>
          <a:p>
            <a:r>
              <a:rPr lang="pt-BR" sz="2200"/>
              <a:t>Camada Domain: modelos, contratos de repositÃ³rio e casos de uso</a:t>
            </a:r>
          </a:p>
          <a:p>
            <a:r>
              <a:rPr lang="pt-BR" sz="2200"/>
              <a:t>Camada UI: telas Compose, ViewModels, estados de tela e componentes reutilizÃ¡veis</a:t>
            </a:r>
          </a:p>
          <a:p>
            <a:r>
              <a:rPr lang="pt-BR" sz="2200"/>
              <a:t>SeparaÃ§Ã£o por feature: auth, operator, manager e leader</a:t>
            </a:r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457200"/>
            <a:ext cx="10820400" cy="1143000"/>
          </a:xfrm>
        </p:spPr>
        <p:txBody>
          <a:bodyPr/>
          <a:lstStyle/>
          <a:p>
            <a:r>
              <a:rPr lang="pt-BR" sz="4000" b="1">
                <a:solidFill>
                  <a:srgbClr val="FFFFFF"/>
                </a:solidFill>
              </a:rPr>
              <a:t>Fluxo da AplicaÃ§Ã£o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914400" y="1905000"/>
            <a:ext cx="10363200" cy="4114800"/>
          </a:xfrm>
        </p:spPr>
        <p:txBody>
          <a:bodyPr/>
          <a:lstStyle/>
          <a:p>
            <a:r>
              <a:rPr lang="pt-BR" sz="2200"/>
              <a:t>1. UsuÃ¡rio acessa a tela de login</a:t>
            </a:r>
          </a:p>
          <a:p>
            <a:r>
              <a:rPr lang="pt-BR" sz="2200"/>
              <a:t>2. Credenciais mockadas definem automaticamente o perfil</a:t>
            </a:r>
          </a:p>
          <a:p>
            <a:r>
              <a:rPr lang="pt-BR" sz="2200"/>
              <a:t>3. A sessÃ£o Ã© salva localmente</a:t>
            </a:r>
          </a:p>
          <a:p>
            <a:r>
              <a:rPr lang="pt-BR" sz="2200"/>
              <a:t>4. A navegaÃ§Ã£o direciona para a home correta do perfil</a:t>
            </a:r>
          </a:p>
          <a:p>
            <a:r>
              <a:rPr lang="pt-BR" sz="2200"/>
              <a:t>5. Cada perfil acessa funcionalidades especÃ­ficas por regra de negÃ³cio</a:t>
            </a:r>
          </a:p>
        </p:txBody>
      </p:sp>
    </p:spTree>
  </p:cSld>
  <p:clrMapOvr>
    <a:masterClrMapping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457200"/>
            <a:ext cx="10820400" cy="1143000"/>
          </a:xfrm>
        </p:spPr>
        <p:txBody>
          <a:bodyPr/>
          <a:lstStyle/>
          <a:p>
            <a:r>
              <a:rPr lang="pt-BR" sz="4000" b="1">
                <a:solidFill>
                  <a:srgbClr val="FFFFFF"/>
                </a:solidFill>
              </a:rPr>
              <a:t>Funcionalidades do Operador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914400" y="1905000"/>
            <a:ext cx="10363200" cy="4114800"/>
          </a:xfrm>
        </p:spPr>
        <p:txBody>
          <a:bodyPr/>
          <a:lstStyle/>
          <a:p>
            <a:r>
              <a:rPr lang="pt-BR" sz="2200"/>
              <a:t>Home com KPIs, insight do dia e diretrizes estratÃ©gicas</a:t>
            </a:r>
          </a:p>
          <a:p>
            <a:r>
              <a:rPr lang="pt-BR" sz="2200"/>
              <a:t>Cadastro de novas ideias e reporte de problemas</a:t>
            </a:r>
          </a:p>
          <a:p>
            <a:r>
              <a:rPr lang="pt-BR" sz="2200"/>
              <a:t>Listagem das prÃ³prias ideias com status</a:t>
            </a:r>
          </a:p>
          <a:p>
            <a:r>
              <a:rPr lang="pt-BR" sz="2200"/>
              <a:t>Perfil com gamificaÃ§Ã£o, pontos e resumo de participaÃ§Ã£o</a:t>
            </a:r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457200"/>
            <a:ext cx="10820400" cy="1143000"/>
          </a:xfrm>
        </p:spPr>
        <p:txBody>
          <a:bodyPr/>
          <a:lstStyle/>
          <a:p>
            <a:r>
              <a:rPr lang="pt-BR" sz="4000" b="1">
                <a:solidFill>
                  <a:srgbClr val="FFFFFF"/>
                </a:solidFill>
              </a:rPr>
              <a:t>Funcionalidades do Gestor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914400" y="1905000"/>
            <a:ext cx="10363200" cy="4114800"/>
          </a:xfrm>
        </p:spPr>
        <p:txBody>
          <a:bodyPr/>
          <a:lstStyle/>
          <a:p>
            <a:r>
              <a:rPr lang="pt-BR" sz="2200"/>
              <a:t>Dashboard tÃ¡tico com indicadores e grÃ¡fico de ideias</a:t>
            </a:r>
          </a:p>
          <a:p>
            <a:r>
              <a:rPr lang="pt-BR" sz="2200"/>
              <a:t>Curadoria de ideias: aprovar, reprovar e priorizar</a:t>
            </a:r>
          </a:p>
          <a:p>
            <a:r>
              <a:rPr lang="pt-BR" sz="2200"/>
              <a:t>CRUD de projetos a partir de ideias aprovadas</a:t>
            </a:r>
          </a:p>
          <a:p>
            <a:r>
              <a:rPr lang="pt-BR" sz="2200"/>
              <a:t>Consulta das diretrizes da lideranÃ§a</a:t>
            </a:r>
          </a:p>
          <a:p>
            <a:r>
              <a:rPr lang="pt-BR" sz="2200"/>
              <a:t>Perfil e visÃ£o de equipe</a:t>
            </a:r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457200"/>
            <a:ext cx="10820400" cy="1143000"/>
          </a:xfrm>
        </p:spPr>
        <p:txBody>
          <a:bodyPr/>
          <a:lstStyle/>
          <a:p>
            <a:r>
              <a:rPr lang="pt-BR" sz="4000" b="1">
                <a:solidFill>
                  <a:srgbClr val="FFFFFF"/>
                </a:solidFill>
              </a:rPr>
              <a:t>Funcionalidades do LÃ­der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914400" y="1905000"/>
            <a:ext cx="10363200" cy="4114800"/>
          </a:xfrm>
        </p:spPr>
        <p:txBody>
          <a:bodyPr/>
          <a:lstStyle/>
          <a:p>
            <a:r>
              <a:rPr lang="pt-BR" sz="2200"/>
              <a:t>Dashboard executivo de ROI, investimento, lucro e produtividade</a:t>
            </a:r>
          </a:p>
          <a:p>
            <a:r>
              <a:rPr lang="pt-BR" sz="2200"/>
              <a:t>CRUD de diretrizes estratÃ©gicas</a:t>
            </a:r>
          </a:p>
          <a:p>
            <a:r>
              <a:rPr lang="pt-BR" sz="2200"/>
              <a:t>Acompanhamento dos projetos com prazo, status e retorno</a:t>
            </a:r>
          </a:p>
          <a:p>
            <a:r>
              <a:rPr lang="pt-BR" sz="2200"/>
              <a:t>NotificaÃ§Ãµes e visÃ£o estratÃ©gica consolidada</a:t>
            </a:r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457200"/>
            <a:ext cx="10820400" cy="1143000"/>
          </a:xfrm>
        </p:spPr>
        <p:txBody>
          <a:bodyPr/>
          <a:lstStyle/>
          <a:p>
            <a:r>
              <a:rPr lang="pt-BR" sz="4000" b="1">
                <a:solidFill>
                  <a:srgbClr val="FFFFFF"/>
                </a:solidFill>
              </a:rPr>
              <a:t>EntregÃ¡veis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914400" y="1905000"/>
            <a:ext cx="10363200" cy="4114800"/>
          </a:xfrm>
        </p:spPr>
        <p:txBody>
          <a:bodyPr/>
          <a:lstStyle/>
          <a:p>
            <a:r>
              <a:rPr lang="pt-BR" sz="2200"/>
              <a:t>Pasta web: build estÃ¡tico do preview no navegador</a:t>
            </a:r>
          </a:p>
          <a:p>
            <a:r>
              <a:rPr lang="pt-BR" sz="2200"/>
              <a:t>Pasta apk: local destinado ao APK Android</a:t>
            </a:r>
          </a:p>
          <a:p>
            <a:r>
              <a:rPr lang="pt-BR" sz="2200"/>
              <a:t>CÃ³digo-fonte completo compactado em .zip</a:t>
            </a:r>
          </a:p>
          <a:p>
            <a:r>
              <a:rPr lang="pt-BR" sz="2200"/>
              <a:t>DocumentaÃ§Ã£o tÃ©cnica em PPTX</a:t>
            </a:r>
          </a:p>
          <a:p>
            <a:r>
              <a:rPr lang="pt-BR" sz="2200"/>
              <a:t>Material de apoio para vÃ­deo demonstrativo de atÃ© 5 minutos</a:t>
            </a:r>
          </a:p>
        </p:txBody>
      </p:sp>
    </p:spTree>
  </p:cSld>
  <p:clrMapOvr>
    <a:masterClrMapping/>
  </p:clrMapOvr>
</p:sld>
</file>